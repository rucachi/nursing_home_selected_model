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2" r:id="rId5"/>
    <p:sldId id="28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1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14" y="6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요양(병)원 시설 유형별</a:t>
            </a:r>
            <a:br/>
            <a:r>
              <a:t>대피체계 표준모델 개발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128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0">
                <a:solidFill>
                  <a:srgbClr val="A0C4E8"/>
                </a:solidFill>
                <a:latin typeface="맑은 고딕"/>
              </a:defRPr>
            </a:pPr>
            <a:r>
              <a:rPr lang="en-US" dirty="0" smtClean="0"/>
              <a:t>(</a:t>
            </a:r>
            <a:r>
              <a:rPr lang="ko-KR" altLang="en-US" dirty="0" smtClean="0"/>
              <a:t>재</a:t>
            </a:r>
            <a:r>
              <a:rPr lang="en-US" altLang="ko-KR" dirty="0" smtClean="0"/>
              <a:t>)</a:t>
            </a:r>
            <a:r>
              <a:rPr lang="ko-KR" altLang="en-US" dirty="0" err="1" smtClean="0"/>
              <a:t>국제도시물정보과학연구원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>
              <a:lnSpc>
                <a:spcPct val="150000"/>
              </a:lnSpc>
              <a:defRPr sz="2400" b="0">
                <a:solidFill>
                  <a:srgbClr val="A0C4E8"/>
                </a:solidFill>
                <a:latin typeface="맑은 고딕"/>
              </a:defRPr>
            </a:pPr>
            <a:r>
              <a:rPr lang="ko-KR" altLang="en-US" dirty="0" smtClean="0"/>
              <a:t>김태형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86687" y="5481044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맑은 고딕"/>
              </a:defRPr>
            </a:pPr>
            <a:r>
              <a:t>2026년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/>
              <a:t>2 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맑은 고딕"/>
              </a:defRPr>
            </a:pPr>
            <a:r>
              <a:t>목  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57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제안 개요 및 추진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추진 배경 및 문제 제기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214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 목표 및 수행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14015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핵심 역량 및 제안의 차별화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0662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제안기관의 핵심 역량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82111"/>
            <a:ext cx="457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8211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세부 연구 수행 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39311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과업1: 기초현황조사 (시설 분류·사례 분석·심층 인터뷰)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과업2: 국내외 대피체계 비교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24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과업3: 대피체계 표준모델 (정량적 근거·표준안·행동 매뉴얼)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171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과업4: 합동 훈련 시나리오 및 정책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9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중장기 확산 로드맵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85232"/>
            <a:ext cx="457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사업 관리 및 기관 역량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42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연구 추진 일정 및 마일스톤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6035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rPr dirty="0"/>
              <a:t>   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및 </a:t>
            </a:r>
            <a:r>
              <a:rPr dirty="0" err="1"/>
              <a:t>품질관리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/>
              <a:t>3 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1. 추진 배경 및 문제 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초고령사회 진입과 요양병원 급증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292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2004년 92개 → 2021년 1,466개로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요양병원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대폭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증가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입소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환자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약 90%가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자력대피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불가능한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'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와상환자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'</a:t>
            </a: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야간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시간대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의료인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1명당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과도한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환자수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부담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기존 대피체계의 구조적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50292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일률적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대피체계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유형별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현장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적용성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저하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밀양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세종병원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(2018):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사망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47명,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방화구획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미비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장성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효사랑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(2014):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사망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21명,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조력인력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3명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불과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FDF2F0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맑은 고딕"/>
              </a:defRPr>
            </a:pPr>
            <a:r>
              <a:t>⚠  핵심 문제: RSET &gt; 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400" b="1">
                <a:solidFill>
                  <a:srgbClr val="C0392B"/>
                </a:solidFill>
                <a:latin typeface="맑은 고딕"/>
              </a:defRPr>
            </a:pPr>
            <a:r>
              <a:rPr dirty="0"/>
              <a:t>"현 </a:t>
            </a:r>
            <a:r>
              <a:rPr dirty="0" err="1"/>
              <a:t>상태로는</a:t>
            </a:r>
            <a:r>
              <a:rPr dirty="0"/>
              <a:t> </a:t>
            </a:r>
            <a:r>
              <a:rPr dirty="0" err="1"/>
              <a:t>피난</a:t>
            </a:r>
            <a:r>
              <a:rPr dirty="0"/>
              <a:t> </a:t>
            </a:r>
            <a:r>
              <a:rPr dirty="0" err="1"/>
              <a:t>자체가</a:t>
            </a:r>
            <a:r>
              <a:rPr dirty="0"/>
              <a:t> </a:t>
            </a:r>
            <a:r>
              <a:rPr dirty="0" err="1"/>
              <a:t>불가능</a:t>
            </a:r>
            <a:r>
              <a:rPr dirty="0"/>
              <a:t>"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224166"/>
              </p:ext>
            </p:extLst>
          </p:nvPr>
        </p:nvGraphicFramePr>
        <p:xfrm>
          <a:off x="6858000" y="2926080"/>
          <a:ext cx="4389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구분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수치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피난허용시간</a:t>
                      </a:r>
                      <a:r>
                        <a:rPr sz="1200" dirty="0"/>
                        <a:t>(ASET)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53.22초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피난소요시간(RSET)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76.80초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판정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피난안전성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미확보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58000" y="5029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spcAft>
                <a:spcPts val="400"/>
              </a:spcAft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rPr dirty="0" err="1"/>
              <a:t>출처</a:t>
            </a:r>
            <a:r>
              <a:rPr dirty="0"/>
              <a:t>: </a:t>
            </a:r>
            <a:r>
              <a:rPr dirty="0" err="1"/>
              <a:t>박국희</a:t>
            </a:r>
            <a:r>
              <a:rPr dirty="0"/>
              <a:t>(2023) </a:t>
            </a:r>
            <a:r>
              <a:rPr dirty="0" err="1"/>
              <a:t>피난</a:t>
            </a:r>
            <a:r>
              <a:rPr dirty="0"/>
              <a:t> </a:t>
            </a: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연구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1. 추진 배경 및 문제 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요양병원과 요양원의 규모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81992" y="1965960"/>
            <a:ext cx="853980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요양병원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의료기관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415" y="2272710"/>
            <a:ext cx="8539802" cy="289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의사와 간호사가 상주하며 주로 수십에서 수백 병상 단위로 운영되는 대형 시설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1992" y="2757729"/>
            <a:ext cx="853980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요양원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노인요양시설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415" y="3064479"/>
            <a:ext cx="8539802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err="1" smtClean="0">
                <a:latin typeface="맑은 고딕"/>
              </a:rPr>
              <a:t>노인복지접의</a:t>
            </a:r>
            <a:r>
              <a:rPr lang="ko-KR" altLang="en-US" sz="1200" dirty="0" smtClean="0">
                <a:latin typeface="맑은 고딕"/>
              </a:rPr>
              <a:t> 적용을 받는 돌봄 중심 시설로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smtClean="0">
                <a:latin typeface="맑은 고딕"/>
              </a:rPr>
              <a:t>규모의 스펙트럼이 매우 넓음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대규모 요양원</a:t>
            </a:r>
            <a:r>
              <a:rPr lang="en-US" altLang="ko-KR" sz="1200" dirty="0" smtClean="0">
                <a:latin typeface="맑은 고딕"/>
              </a:rPr>
              <a:t>: 100</a:t>
            </a:r>
            <a:r>
              <a:rPr lang="ko-KR" altLang="en-US" sz="1200" dirty="0" smtClean="0">
                <a:latin typeface="맑은 고딕"/>
              </a:rPr>
              <a:t>인 이상이 입소하며 연면적 약 </a:t>
            </a:r>
            <a:r>
              <a:rPr lang="en-US" altLang="ko-KR" sz="1200" dirty="0" smtClean="0">
                <a:latin typeface="맑은 고딕"/>
              </a:rPr>
              <a:t>2,360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㎡ 이상의 거대 규모</a:t>
            </a:r>
            <a:endParaRPr lang="en-US" altLang="ko-KR" sz="1200" dirty="0" smtClean="0"/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소규모 요양원</a:t>
            </a:r>
            <a:r>
              <a:rPr lang="en-US" altLang="ko-KR" sz="1200" dirty="0" smtClean="0">
                <a:latin typeface="맑은 고딕"/>
              </a:rPr>
              <a:t>: </a:t>
            </a:r>
            <a:r>
              <a:rPr lang="ko-KR" altLang="en-US" sz="1200" dirty="0" smtClean="0">
                <a:latin typeface="맑은 고딕"/>
              </a:rPr>
              <a:t>약 </a:t>
            </a:r>
            <a:r>
              <a:rPr lang="en-US" altLang="ko-KR" sz="1200" dirty="0" smtClean="0">
                <a:latin typeface="맑은 고딕"/>
              </a:rPr>
              <a:t>15</a:t>
            </a:r>
            <a:r>
              <a:rPr lang="ko-KR" altLang="en-US" sz="1200" dirty="0" smtClean="0">
                <a:latin typeface="맑은 고딕"/>
              </a:rPr>
              <a:t>인 생활하는 연면적 </a:t>
            </a:r>
            <a:r>
              <a:rPr lang="en-US" altLang="ko-KR" sz="1200" dirty="0" smtClean="0">
                <a:latin typeface="맑은 고딕"/>
              </a:rPr>
              <a:t>354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㎡ 규모의 시설</a:t>
            </a:r>
            <a:endParaRPr lang="en-US" altLang="ko-KR" sz="1200" dirty="0" smtClean="0"/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노인공동생활가정</a:t>
            </a:r>
            <a:r>
              <a:rPr lang="en-US" altLang="ko-KR" sz="1200" dirty="0" smtClean="0">
                <a:latin typeface="맑은 고딕"/>
              </a:rPr>
              <a:t>(</a:t>
            </a:r>
            <a:r>
              <a:rPr lang="ko-KR" altLang="en-US" sz="1200" dirty="0" err="1" smtClean="0">
                <a:latin typeface="맑은 고딕"/>
              </a:rPr>
              <a:t>그룹홈</a:t>
            </a:r>
            <a:r>
              <a:rPr lang="en-US" altLang="ko-KR" sz="1200" dirty="0" smtClean="0">
                <a:latin typeface="맑은 고딕"/>
              </a:rPr>
              <a:t>): 9</a:t>
            </a:r>
            <a:r>
              <a:rPr lang="ko-KR" altLang="en-US" sz="1200" dirty="0" smtClean="0">
                <a:latin typeface="맑은 고딕"/>
              </a:rPr>
              <a:t>인 이하의 어르신이 가정집처럼 </a:t>
            </a:r>
            <a:r>
              <a:rPr lang="ko-KR" altLang="en-US" sz="1200" dirty="0">
                <a:latin typeface="맑은 고딕"/>
              </a:rPr>
              <a:t>생</a:t>
            </a:r>
            <a:r>
              <a:rPr lang="ko-KR" altLang="en-US" sz="1200" dirty="0" smtClean="0">
                <a:latin typeface="맑은 고딕"/>
              </a:rPr>
              <a:t>활하는 가장 작은 형태의 요양원으로 연면적 </a:t>
            </a:r>
            <a:r>
              <a:rPr lang="en-US" altLang="ko-KR" sz="1200" dirty="0" smtClean="0">
                <a:latin typeface="맑은 고딕"/>
              </a:rPr>
              <a:t>185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㎡ 규모</a:t>
            </a:r>
            <a:endParaRPr sz="1200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9008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5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1. 추진 배경 및 문제 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</a:t>
            </a:r>
            <a:r>
              <a:rPr lang="ko-KR" altLang="en-US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소방시설법에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따른 소방설비 기준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81992" y="1965960"/>
            <a:ext cx="853980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요양병원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의료시설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415" y="2272710"/>
            <a:ext cx="853980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바닥면적 </a:t>
            </a:r>
            <a:r>
              <a:rPr lang="en-US" altLang="ko-KR" sz="1200" dirty="0" smtClean="0">
                <a:latin typeface="맑은 고딕"/>
              </a:rPr>
              <a:t>600</a:t>
            </a:r>
            <a:r>
              <a:rPr lang="ko-KR" altLang="en-US" sz="1200" dirty="0" smtClean="0"/>
              <a:t>㎡ 이상은 전 층 스프링클러</a:t>
            </a:r>
            <a:r>
              <a:rPr lang="en-US" altLang="ko-KR" sz="1200" dirty="0" smtClean="0"/>
              <a:t>, 600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㎡ 미만은 간이 스프링클러 설치가 의무화</a:t>
            </a:r>
            <a:endParaRPr lang="en-US" altLang="ko-KR" sz="1200" dirty="0" smtClean="0"/>
          </a:p>
          <a:p>
            <a:pPr marL="171450" indent="-1714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/>
              <a:t>법령 개정에 따라 기존 </a:t>
            </a:r>
            <a:r>
              <a:rPr lang="ko-KR" altLang="en-US" sz="1200" dirty="0" err="1" smtClean="0"/>
              <a:t>병원급</a:t>
            </a:r>
            <a:r>
              <a:rPr lang="ko-KR" altLang="en-US" sz="1200" dirty="0" smtClean="0"/>
              <a:t> 의료기관도 면적에 관계없이 </a:t>
            </a:r>
            <a:r>
              <a:rPr lang="en-US" altLang="ko-KR" sz="1200" dirty="0" smtClean="0"/>
              <a:t>2026</a:t>
            </a:r>
            <a:r>
              <a:rPr lang="ko-KR" altLang="en-US" sz="1200" dirty="0" smtClean="0"/>
              <a:t>년 </a:t>
            </a:r>
            <a:r>
              <a:rPr lang="en-US" altLang="ko-KR" sz="1200" dirty="0" smtClean="0"/>
              <a:t>12</a:t>
            </a:r>
            <a:r>
              <a:rPr lang="ko-KR" altLang="en-US" sz="1200" dirty="0" smtClean="0"/>
              <a:t>월 </a:t>
            </a:r>
            <a:r>
              <a:rPr lang="en-US" altLang="ko-KR" sz="1200" dirty="0" smtClean="0"/>
              <a:t>31</a:t>
            </a:r>
            <a:r>
              <a:rPr lang="ko-KR" altLang="en-US" sz="1200" dirty="0" smtClean="0"/>
              <a:t>일까지 간이 스프링클러 및 자동화재속보설비 전면 소급 설치  </a:t>
            </a:r>
            <a:endParaRPr sz="1200" dirty="0"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1992" y="3348513"/>
            <a:ext cx="853980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요양원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노유자 생활시설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15415" y="3655263"/>
            <a:ext cx="8539802" cy="616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맑은 고딕"/>
              </a:rPr>
              <a:t>24</a:t>
            </a:r>
            <a:r>
              <a:rPr lang="ko-KR" altLang="en-US" sz="1200" dirty="0" smtClean="0">
                <a:latin typeface="맑은 고딕"/>
              </a:rPr>
              <a:t>시간 숙식을 제공하는 특성상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smtClean="0">
                <a:latin typeface="맑은 고딕"/>
              </a:rPr>
              <a:t>바닥면적 규모</a:t>
            </a:r>
            <a:r>
              <a:rPr lang="en-US" altLang="ko-KR" sz="1200" dirty="0" smtClean="0">
                <a:latin typeface="맑은 고딕"/>
              </a:rPr>
              <a:t>(300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㎡ 미만 등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와 무관하게 간이스프링클러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자동화재탐지설비</a:t>
            </a:r>
            <a:r>
              <a:rPr lang="en-US" altLang="ko-KR" sz="1200" dirty="0" smtClean="0"/>
              <a:t>, </a:t>
            </a:r>
            <a:r>
              <a:rPr lang="ko-KR" altLang="en-US" sz="1200" dirty="0" err="1" smtClean="0"/>
              <a:t>자동화재속보설지를</a:t>
            </a:r>
            <a:r>
              <a:rPr lang="ko-KR" altLang="en-US" sz="1200" dirty="0" smtClean="0"/>
              <a:t> 의무적으로 설치</a:t>
            </a:r>
            <a:endParaRPr sz="1200" dirty="0"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1992" y="4361674"/>
            <a:ext cx="8539802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일반 </a:t>
            </a:r>
            <a:r>
              <a:rPr lang="ko-KR" altLang="en-US" sz="1200" dirty="0" err="1" smtClean="0">
                <a:solidFill>
                  <a:srgbClr val="2E86AB"/>
                </a:solidFill>
                <a:latin typeface="맑은 고딕"/>
              </a:rPr>
              <a:t>노유자시설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주간보호 등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415" y="4668424"/>
            <a:ext cx="8539802" cy="294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맑은 고딕"/>
              </a:rPr>
              <a:t>300</a:t>
            </a:r>
            <a:r>
              <a:rPr lang="ko-KR" altLang="en-US" sz="1200" dirty="0" smtClean="0"/>
              <a:t> ㎡ 미만 등 면적에 따라 간이스프링클러 및 화재속보설비 의무에서 제외되는 법적 사각지대가 존재</a:t>
            </a:r>
            <a:endParaRPr sz="1200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1553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6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2. 과업 목표 및 수행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5A80"/>
                </a:solidFill>
                <a:latin typeface="맑은 고딕"/>
              </a:defRPr>
            </a:pPr>
            <a:r>
              <a:t>3대 핵심 목표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50521"/>
              </p:ext>
            </p:extLst>
          </p:nvPr>
        </p:nvGraphicFramePr>
        <p:xfrm>
          <a:off x="731520" y="19202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  <a:gridCol w="475488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구분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목표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핵심 전략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목표 1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시설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유형별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위험요인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정량화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/>
                        <a:t>및 </a:t>
                      </a:r>
                      <a:r>
                        <a:rPr sz="1200" dirty="0" err="1"/>
                        <a:t>맞춤형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대피체계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구축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입지·건물·설비·환자 중증도별</a:t>
                      </a:r>
                      <a:br>
                        <a:rPr sz="1200"/>
                      </a:br>
                      <a:r>
                        <a:rPr sz="1200"/>
                        <a:t>세분화된 위험 프로파일 도출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목표 2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와상환자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중심의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/>
                        <a:t>'</a:t>
                      </a:r>
                      <a:r>
                        <a:rPr sz="1200" dirty="0" err="1"/>
                        <a:t>수평피난</a:t>
                      </a:r>
                      <a:r>
                        <a:rPr sz="1200" dirty="0"/>
                        <a:t>(Defend-in-Place)' </a:t>
                      </a:r>
                      <a:r>
                        <a:rPr sz="1200" dirty="0" err="1"/>
                        <a:t>반영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무리한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수직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대신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층내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방화구획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안전구역으로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수평이동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목표 3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행안부 기존 가이드라인의</a:t>
                      </a:r>
                      <a:br>
                        <a:rPr sz="1200"/>
                      </a:br>
                      <a:r>
                        <a:rPr sz="1200"/>
                        <a:t>현장 작동형 매뉴얼 고도화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법정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소방계획서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양식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연계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종사자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행정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부담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최소화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5A80"/>
                </a:solidFill>
                <a:latin typeface="맑은 고딕"/>
              </a:defRPr>
            </a:pPr>
            <a:r>
              <a:t>4대 주요 산출물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113029"/>
              </p:ext>
            </p:extLst>
          </p:nvPr>
        </p:nvGraphicFramePr>
        <p:xfrm>
          <a:off x="731520" y="5166360"/>
          <a:ext cx="10698479" cy="14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955279"/>
              </a:tblGrid>
              <a:tr h="2377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산출물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내용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유형별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대피계획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표준안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건축·설비적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대안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포함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소방계획서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연계형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표준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서식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행동 매뉴얼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환자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중증도별</a:t>
                      </a:r>
                      <a:r>
                        <a:rPr sz="1200" dirty="0"/>
                        <a:t>(A/B/</a:t>
                      </a:r>
                      <a:r>
                        <a:rPr sz="1200" dirty="0" err="1"/>
                        <a:t>C유형</a:t>
                      </a:r>
                      <a:r>
                        <a:rPr sz="1200" dirty="0"/>
                        <a:t>) </a:t>
                      </a:r>
                      <a:r>
                        <a:rPr sz="1200" dirty="0" err="1"/>
                        <a:t>맞춤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대피동선</a:t>
                      </a:r>
                      <a:r>
                        <a:rPr sz="1200" dirty="0"/>
                        <a:t> + </a:t>
                      </a:r>
                      <a:r>
                        <a:rPr sz="1200" dirty="0" err="1"/>
                        <a:t>종사자</a:t>
                      </a:r>
                      <a:r>
                        <a:rPr sz="1200" dirty="0"/>
                        <a:t> 4단계 </a:t>
                      </a:r>
                      <a:r>
                        <a:rPr sz="1200" dirty="0" err="1"/>
                        <a:t>임무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규격화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합동 훈련 시나리오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도상</a:t>
                      </a:r>
                      <a:r>
                        <a:rPr sz="1200" dirty="0"/>
                        <a:t>/</a:t>
                      </a:r>
                      <a:r>
                        <a:rPr sz="1200" dirty="0" err="1"/>
                        <a:t>현장모의</a:t>
                      </a:r>
                      <a:r>
                        <a:rPr sz="1200" dirty="0"/>
                        <a:t>/</a:t>
                      </a:r>
                      <a:r>
                        <a:rPr sz="1200" dirty="0" err="1"/>
                        <a:t>전문가참여</a:t>
                      </a:r>
                      <a:r>
                        <a:rPr sz="1200" dirty="0"/>
                        <a:t> 3종, </a:t>
                      </a:r>
                      <a:r>
                        <a:rPr sz="1200" dirty="0" err="1"/>
                        <a:t>주간·야간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분리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타임라인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기반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정책 과제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법령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개정안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A~D등급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자가진단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도구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우수시설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인센티브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제도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7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3. 핵심 역량 및 제안의 차별화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057400" y="173736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시뮬레이션 비용·시간 효율화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788920"/>
            <a:ext cx="28346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3017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신규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시뮬레이션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용역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발주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없이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학계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교차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검증된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정량적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데이터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활용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제안사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보유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FDS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자동화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특허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국립재난안전연구원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공동발명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적용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분석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정밀도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및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속도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극대화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715000" y="173736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현장 중심 실효성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788920"/>
            <a:ext cx="28346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3017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독립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매뉴얼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추가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배포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방식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지양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행정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부담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최소화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기존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법정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'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소방계획서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'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양식과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구조적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연계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현장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수용성과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실무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적용성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극대화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372600" y="173736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860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환자 3유형 맞춤 동선 설계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788920"/>
            <a:ext cx="283464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926080"/>
            <a:ext cx="30175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A유형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보행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가능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핸드레일·바닥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발광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유도선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활용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자력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B유형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휠체어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부분도움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종사자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1인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보조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경사로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활용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C유형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거동불가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와상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금지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2인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팀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편성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8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t>4. 제안기관의 핵심 역량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639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5A80"/>
                </a:solidFill>
                <a:latin typeface="맑은 고딕"/>
              </a:defRPr>
            </a:pPr>
            <a:r>
              <a:rPr dirty="0" err="1"/>
              <a:t>행안부</a:t>
            </a:r>
            <a:r>
              <a:rPr dirty="0"/>
              <a:t> </a:t>
            </a:r>
            <a:r>
              <a:rPr dirty="0" err="1"/>
              <a:t>국립재난안전연구원</a:t>
            </a:r>
            <a:r>
              <a:rPr dirty="0"/>
              <a:t> </a:t>
            </a:r>
            <a:r>
              <a:rPr dirty="0" err="1"/>
              <a:t>공동</a:t>
            </a:r>
            <a:r>
              <a:rPr dirty="0"/>
              <a:t> </a:t>
            </a:r>
            <a:r>
              <a:rPr dirty="0" err="1"/>
              <a:t>특허</a:t>
            </a:r>
            <a:r>
              <a:rPr dirty="0"/>
              <a:t> </a:t>
            </a:r>
            <a:r>
              <a:rPr dirty="0" err="1"/>
              <a:t>발명</a:t>
            </a:r>
            <a:endParaRPr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1607"/>
              </p:ext>
            </p:extLst>
          </p:nvPr>
        </p:nvGraphicFramePr>
        <p:xfrm>
          <a:off x="731522" y="2011680"/>
          <a:ext cx="4639132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838"/>
                <a:gridCol w="3295294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항목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내용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발명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명칭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GUI </a:t>
                      </a:r>
                      <a:r>
                        <a:rPr sz="1200" dirty="0" err="1"/>
                        <a:t>기반의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화재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시뮬레이션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입력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데이터</a:t>
                      </a:r>
                      <a:r>
                        <a:rPr sz="1200" dirty="0"/>
                        <a:t> </a:t>
                      </a:r>
                      <a:endParaRPr lang="en-US" sz="1200" dirty="0" smtClean="0"/>
                    </a:p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 smtClean="0"/>
                        <a:t>자동</a:t>
                      </a:r>
                      <a:r>
                        <a:rPr sz="1200" dirty="0" smtClean="0"/>
                        <a:t> </a:t>
                      </a:r>
                      <a:r>
                        <a:rPr sz="1200" dirty="0" err="1"/>
                        <a:t>생성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방법</a:t>
                      </a:r>
                      <a:r>
                        <a:rPr sz="1200" dirty="0"/>
                        <a:t> 및 </a:t>
                      </a:r>
                      <a:r>
                        <a:rPr sz="1200" dirty="0" err="1"/>
                        <a:t>장치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출원번호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10-2026-0080248 (2026.05.04)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출원인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대한민국</a:t>
                      </a:r>
                      <a:r>
                        <a:rPr sz="1200" dirty="0"/>
                        <a:t>(</a:t>
                      </a:r>
                      <a:r>
                        <a:rPr sz="1200" dirty="0" err="1"/>
                        <a:t>행정안전부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국립재난안전연구원</a:t>
                      </a:r>
                      <a:r>
                        <a:rPr sz="1200" dirty="0"/>
                        <a:t>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공동 발명자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국립재난안전연구원</a:t>
                      </a:r>
                      <a:r>
                        <a:rPr sz="1200" dirty="0"/>
                        <a:t> + </a:t>
                      </a:r>
                      <a:r>
                        <a:rPr sz="1200" dirty="0" err="1"/>
                        <a:t>제안사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5A80"/>
                </a:solidFill>
                <a:latin typeface="맑은 고딕"/>
              </a:defRPr>
            </a:pPr>
            <a:r>
              <a:t>대형 국책 과제 수행 실적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024383"/>
              </p:ext>
            </p:extLst>
          </p:nvPr>
        </p:nvGraphicFramePr>
        <p:xfrm>
          <a:off x="731520" y="457200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28600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사업명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발주처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기간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기후변화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대응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재해예방사업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표준화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기술개발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행안부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2021.04~2025.12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도시물순환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연계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홍수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취약성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진단</a:t>
                      </a:r>
                      <a:r>
                        <a:rPr sz="1200" dirty="0"/>
                        <a:t> 및 </a:t>
                      </a:r>
                      <a:r>
                        <a:rPr sz="1200" dirty="0" err="1"/>
                        <a:t>효과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분석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연구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한국수자원공사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2023.07~2024.12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댐운영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의사결정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고도화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기본구상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수립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용역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한국수자원공사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2025.12~현재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공주시 통합물관리 기본계획 수립 용역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충남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공주시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2021.08~2025.07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20209" y="1550037"/>
            <a:ext cx="4411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/>
              <a:t>연구 책임자 역량</a:t>
            </a:r>
            <a:endParaRPr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555" y="1849864"/>
            <a:ext cx="2217125" cy="221712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934" y="1995678"/>
            <a:ext cx="2911983" cy="19413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9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과업1. 기초현황조사 ─ 시설 유형 분류 매트릭스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7180"/>
              </p:ext>
            </p:extLst>
          </p:nvPr>
        </p:nvGraphicFramePr>
        <p:xfrm>
          <a:off x="731520" y="15544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521208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분류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세부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유형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위험요인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분석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방향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입지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도심형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교외형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산림인접형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농어촌형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도심형: 외부 대피공간 확보 곤란</a:t>
                      </a:r>
                      <a:br>
                        <a:rPr sz="1200"/>
                      </a:br>
                      <a:r>
                        <a:rPr sz="1200"/>
                        <a:t>산림인접형: 외부 산불 연속 확대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건물 유형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단일용도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복합용도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고층형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저층분산형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복합용도</a:t>
                      </a:r>
                      <a:r>
                        <a:rPr sz="1200" dirty="0"/>
                        <a:t>: </a:t>
                      </a:r>
                      <a:r>
                        <a:rPr sz="1200" dirty="0" err="1"/>
                        <a:t>저층부</a:t>
                      </a:r>
                      <a:r>
                        <a:rPr sz="1200" dirty="0"/>
                        <a:t> 타 </a:t>
                      </a:r>
                      <a:r>
                        <a:rPr sz="1200" dirty="0" err="1"/>
                        <a:t>시설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화재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전이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고층형</a:t>
                      </a:r>
                      <a:r>
                        <a:rPr sz="1200" dirty="0"/>
                        <a:t>: </a:t>
                      </a:r>
                      <a:r>
                        <a:rPr sz="1200" dirty="0" err="1"/>
                        <a:t>수직피난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다중밀집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준공 시기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스프링클러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의무화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/>
                        <a:t>전(</a:t>
                      </a:r>
                      <a:r>
                        <a:rPr sz="1200" dirty="0" err="1"/>
                        <a:t>과도기</a:t>
                      </a:r>
                      <a:r>
                        <a:rPr sz="1200" dirty="0"/>
                        <a:t>)/후(</a:t>
                      </a:r>
                      <a:r>
                        <a:rPr sz="1200" dirty="0" err="1"/>
                        <a:t>완비</a:t>
                      </a:r>
                      <a:r>
                        <a:rPr sz="1200" dirty="0"/>
                        <a:t>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미설치</a:t>
                      </a:r>
                      <a:r>
                        <a:rPr sz="1200" dirty="0"/>
                        <a:t>: </a:t>
                      </a:r>
                      <a:r>
                        <a:rPr sz="1200" dirty="0" err="1"/>
                        <a:t>플래쉬오버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단시간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발생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/>
                        <a:t>ASET </a:t>
                      </a:r>
                      <a:r>
                        <a:rPr sz="1200" dirty="0" err="1"/>
                        <a:t>급격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단축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환자 중증도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A유형(보행)/B유형(휠체어)</a:t>
                      </a:r>
                      <a:br>
                        <a:rPr sz="1200"/>
                      </a:br>
                      <a:r>
                        <a:rPr sz="1200"/>
                        <a:t>/C유형(거동불가)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C유형</a:t>
                      </a:r>
                      <a:r>
                        <a:rPr sz="1200" dirty="0"/>
                        <a:t> 80% </a:t>
                      </a:r>
                      <a:r>
                        <a:rPr sz="1200" dirty="0" err="1"/>
                        <a:t>이상</a:t>
                      </a:r>
                      <a:r>
                        <a:rPr sz="1200" dirty="0"/>
                        <a:t> 시</a:t>
                      </a:r>
                      <a:br>
                        <a:rPr sz="1200" dirty="0"/>
                      </a:br>
                      <a:r>
                        <a:rPr sz="1200" dirty="0"/>
                        <a:t>'</a:t>
                      </a:r>
                      <a:r>
                        <a:rPr sz="1200" dirty="0" err="1"/>
                        <a:t>최고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위험군</a:t>
                      </a:r>
                      <a:r>
                        <a:rPr sz="1200" dirty="0"/>
                        <a:t>' </a:t>
                      </a:r>
                      <a:r>
                        <a:rPr sz="1200" dirty="0" err="1"/>
                        <a:t>분류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유형 조합별 위험 프로파일(Risk Profile) 도출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5156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4가지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분류축의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세부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유형을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교차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조합하여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고유의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위험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프로파일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산출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예시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[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도심형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+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복합용도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+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고층형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+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미설치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+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C유형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80%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]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최고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위험군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지정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작성된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위험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프로파일은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'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유형별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맞춤형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대피계획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및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행동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매뉴얼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'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설계의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직접적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기초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데이터로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활용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10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과업1. 기초현황조사 ─ 화재 대피 사례 심층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5A80"/>
                </a:solidFill>
                <a:latin typeface="맑은 고딕"/>
              </a:defRPr>
            </a:pPr>
            <a:r>
              <a:t>실패 요인 도출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790881"/>
              </p:ext>
            </p:extLst>
          </p:nvPr>
        </p:nvGraphicFramePr>
        <p:xfrm>
          <a:off x="731520" y="1920240"/>
          <a:ext cx="106984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98079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핵심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분석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항목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도출된 문제점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대피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인원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부재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환자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신체기능별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피난계획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없이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일률적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동선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적용</a:t>
                      </a:r>
                      <a:r>
                        <a:rPr sz="1200" dirty="0"/>
                        <a:t> → </a:t>
                      </a:r>
                      <a:r>
                        <a:rPr sz="1200" dirty="0" err="1"/>
                        <a:t>피난구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밀집·혼란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조력 인력의 물리적 한계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C유형</a:t>
                      </a:r>
                      <a:r>
                        <a:rPr sz="1200" dirty="0"/>
                        <a:t> 1명 </a:t>
                      </a:r>
                      <a:r>
                        <a:rPr sz="1200" dirty="0" err="1"/>
                        <a:t>대피에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최소</a:t>
                      </a:r>
                      <a:r>
                        <a:rPr sz="1200" dirty="0"/>
                        <a:t> 2인 </a:t>
                      </a:r>
                      <a:r>
                        <a:rPr sz="1200" dirty="0" err="1"/>
                        <a:t>필요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심야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참사</a:t>
                      </a:r>
                      <a:r>
                        <a:rPr sz="1200" dirty="0"/>
                        <a:t> 시 </a:t>
                      </a:r>
                      <a:r>
                        <a:rPr sz="1200" dirty="0" err="1"/>
                        <a:t>인력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절대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부족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ASET 초과 현상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방화구획+가연물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연소</a:t>
                      </a:r>
                      <a:r>
                        <a:rPr sz="1200" dirty="0"/>
                        <a:t> → ASET </a:t>
                      </a:r>
                      <a:r>
                        <a:rPr sz="1200" dirty="0" err="1"/>
                        <a:t>단축</a:t>
                      </a:r>
                      <a:r>
                        <a:rPr sz="1200" dirty="0"/>
                        <a:t>, RSET </a:t>
                      </a:r>
                      <a:r>
                        <a:rPr sz="1200" dirty="0" err="1"/>
                        <a:t>증가</a:t>
                      </a:r>
                      <a:r>
                        <a:rPr sz="1200" dirty="0"/>
                        <a:t> → </a:t>
                      </a:r>
                      <a:r>
                        <a:rPr sz="1200" dirty="0" err="1"/>
                        <a:t>골든타임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실패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수평 피난 수단 부재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수직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의존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대피공간·경사로·연결복도</a:t>
                      </a:r>
                      <a:r>
                        <a:rPr sz="1200" dirty="0"/>
                        <a:t> 등 </a:t>
                      </a:r>
                      <a:r>
                        <a:rPr sz="1200" dirty="0" err="1"/>
                        <a:t>수평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인프라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미비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5A80"/>
                </a:solidFill>
                <a:latin typeface="맑은 고딕"/>
              </a:defRPr>
            </a:pPr>
            <a:r>
              <a:t>현장 중심 심층 인터뷰 계획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조사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운영자·소방안전관리자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요양보호사·의료진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119구급대원</a:t>
            </a: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표본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분류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매트릭스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기준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최소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10개소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현장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조사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핵심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질문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기반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반구조화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면접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자유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의견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개진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11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과업1. 현장 심층 인터뷰 ─ 3대 중점 조사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① 야간 시간대 인력 현황 및 조력 피난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100584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대부분의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인명피해는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최소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근무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심야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시간대에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발생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규정상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야간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인력과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C유형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환자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최소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필요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(2인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간의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물리적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격차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조사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불가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원인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규명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및 Defend-in-Place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전략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도입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근거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확보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② 대피 훈련 실태 및 매뉴얼 작동 여부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11880"/>
            <a:ext cx="100584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현행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훈련이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서류상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요건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충족에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그치는지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실태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점검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노인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행동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특성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추종본능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지광본능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익숙한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공간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집착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여부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파악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기구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휠체어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/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도움장치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등)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실제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사용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경험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수렴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③ 현장 대응 애로사항 및 유관기관 협조 체계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257800"/>
            <a:ext cx="100584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계단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폭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협소로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다중밀집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병목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체감도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119구급대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도착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환자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과정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지연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요인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파악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치매환자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돌발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행동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통제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어려움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합동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훈련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시나리오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중점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개선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과제로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연계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1</a:t>
            </a:r>
            <a:r>
              <a:rPr lang="en-US" dirty="0" smtClean="0"/>
              <a:t>2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과업2. 국내외 대피체계 비교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국가별 피난 및 안전관리 비교 매트릭스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644930"/>
              </p:ext>
            </p:extLst>
          </p:nvPr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2926080"/>
                <a:gridCol w="30175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비교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항목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한국(현행)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미국(NFPA 101)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일본(건축/소방법)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대피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전략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전관·수직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피난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중심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제자리 방어</a:t>
                      </a:r>
                      <a:br>
                        <a:rPr sz="1200"/>
                      </a:br>
                      <a:r>
                        <a:rPr sz="1200"/>
                        <a:t>(Defend-in-Place) 원칙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수평구획 및</a:t>
                      </a:r>
                      <a:br>
                        <a:rPr sz="1200"/>
                      </a:br>
                      <a:r>
                        <a:rPr sz="1200"/>
                        <a:t>일시대기공간 중심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시설 기준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대피공간·경사로</a:t>
                      </a:r>
                      <a:r>
                        <a:rPr sz="1200" dirty="0"/>
                        <a:t> 등</a:t>
                      </a:r>
                      <a:br>
                        <a:rPr sz="1200" dirty="0"/>
                      </a:br>
                      <a:r>
                        <a:rPr sz="1200" dirty="0" err="1"/>
                        <a:t>피난로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확보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의무화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철저한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방화구획</a:t>
                      </a:r>
                      <a:r>
                        <a:rPr sz="1200" dirty="0"/>
                        <a:t> 및</a:t>
                      </a:r>
                      <a:br>
                        <a:rPr sz="1200" dirty="0"/>
                      </a:br>
                      <a:r>
                        <a:rPr sz="1200" dirty="0" err="1"/>
                        <a:t>층별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안전구역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의무화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면적 제한 없는</a:t>
                      </a:r>
                      <a:br>
                        <a:rPr sz="1200"/>
                      </a:br>
                      <a:r>
                        <a:rPr sz="1200"/>
                        <a:t>소방설비 소급 적용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인력 기준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법정 최소 상주 인원</a:t>
                      </a:r>
                      <a:br>
                        <a:rPr sz="1200"/>
                      </a:br>
                      <a:r>
                        <a:rPr sz="1200"/>
                        <a:t>(야간 취약성 잔존)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훈련된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전담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감시인·조력자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상시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배치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인력 한계 극복 위한</a:t>
                      </a:r>
                      <a:br>
                        <a:rPr sz="1200"/>
                      </a:br>
                      <a:r>
                        <a:rPr sz="1200"/>
                        <a:t>설비 자동화 연동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협업 체계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화재 발생 후</a:t>
                      </a:r>
                      <a:br>
                        <a:rPr sz="1200"/>
                      </a:br>
                      <a:r>
                        <a:rPr sz="1200"/>
                        <a:t>소방·의료기관 개입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지역사회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기반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사전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대응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프로토콜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소방기관과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자동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연동된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즉각적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통보체계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486400"/>
            <a:ext cx="1069848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시사점: '제자리 방어' 기반 → 수직 피난 중심에서 수평 피난 전략 패러다임 전환 필요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1</a:t>
            </a:r>
            <a:r>
              <a:rPr lang="en-US" dirty="0" smtClean="0"/>
              <a:t>3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과업2. 해외 제도 핵심 분석 및 한국형 적용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미국 NFPA 101 핵심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292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요양병원을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'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지체부자유자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보호시설'로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분류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1개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층을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2개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방화구획으로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분할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환자를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비화재존으로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침상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채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이동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3층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초과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건물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최소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2시간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내화성능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확보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일본 고령자 시설 화재 대응 제도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0292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스프링클러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의무화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면적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제한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철폐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</a:t>
            </a: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거실·복도·계단실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철저한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방화구획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외기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개방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발코니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등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일시대기공간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활용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소규모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포함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예외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없는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적용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73514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한국형 적용 방안 ─ 소방법 소급 적용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759812"/>
              </p:ext>
            </p:extLst>
          </p:nvPr>
        </p:nvGraphicFramePr>
        <p:xfrm>
          <a:off x="731520" y="4192345"/>
          <a:ext cx="10698479" cy="199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955279"/>
              </a:tblGrid>
              <a:tr h="2612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설비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항목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적용 기준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스프링클러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바닥면적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합계</a:t>
                      </a:r>
                      <a:r>
                        <a:rPr sz="1200" dirty="0"/>
                        <a:t> 600㎡ </a:t>
                      </a:r>
                      <a:r>
                        <a:rPr sz="1200" dirty="0" err="1"/>
                        <a:t>이상은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모든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층에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설치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간이스프링클러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면적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관계없이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전체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노인복지시설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설치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의무화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자동화재탐지설비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면적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관계없이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전체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노인복지시설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설치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의무화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자동화재속보설비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면적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관계없이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전체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노인복지시설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설치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의무화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직통계단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3층 </a:t>
                      </a:r>
                      <a:r>
                        <a:rPr sz="1200" dirty="0" err="1"/>
                        <a:t>이상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노유자시설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바닥면적</a:t>
                      </a:r>
                      <a:r>
                        <a:rPr sz="1200" dirty="0"/>
                        <a:t> 200㎡ </a:t>
                      </a:r>
                      <a:r>
                        <a:rPr sz="1200" dirty="0" err="1"/>
                        <a:t>이상</a:t>
                      </a:r>
                      <a:r>
                        <a:rPr sz="1200" dirty="0"/>
                        <a:t> 시 2개소 </a:t>
                      </a:r>
                      <a:r>
                        <a:rPr sz="1200" dirty="0" err="1"/>
                        <a:t>이상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26125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배연설비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6층 </a:t>
                      </a:r>
                      <a:r>
                        <a:rPr sz="1200" dirty="0" err="1"/>
                        <a:t>이상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또는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노인요양시설은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층수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관계없이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설치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1</a:t>
            </a: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과업3. 대피체계 표준모델 ─ 기술적·정량적 근거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5029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피난안전성 확보 조건:   ASET(피난허용시간)  &gt;  RSET(피난소요시간)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81245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D5A80"/>
                </a:solidFill>
                <a:latin typeface="맑은 고딕"/>
              </a:defRPr>
            </a:pPr>
            <a:r>
              <a:t>이중 접근(Two-Track) 전략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92725"/>
            <a:ext cx="5120640" cy="10972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8416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맑은 고딕"/>
              </a:defRPr>
            </a:pPr>
            <a:r>
              <a:t>RSET 단축 (피난소요시간 줄이기)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49925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수평대피공간 확보, 복합 피난수단 동시 운용,</a:t>
            </a:r>
            <a:br/>
            <a:r>
              <a:t>종사자 임무 명확화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592725"/>
            <a:ext cx="5120640" cy="10972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68416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맑은 고딕"/>
              </a:defRPr>
            </a:pPr>
            <a:r>
              <a:t>ASET 연장 (피난허용시간 늘리기)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49925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연기감지기 교체, 배연창 연동 설치,</a:t>
            </a:r>
            <a:br/>
            <a:r>
              <a:t>내부 마감재 난연·불연화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71725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4대 핵심 문제 → 기술적 대안 → 정량적 기대효과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642976"/>
              </p:ext>
            </p:extLst>
          </p:nvPr>
        </p:nvGraphicFramePr>
        <p:xfrm>
          <a:off x="731520" y="4283205"/>
          <a:ext cx="10698480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38328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문제점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기술적 대안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정량적 기대효과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근거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ASET &lt; RSET</a:t>
                      </a:r>
                      <a:br>
                        <a:rPr sz="1200" dirty="0"/>
                      </a:br>
                      <a:r>
                        <a:rPr sz="1200" dirty="0"/>
                        <a:t>(</a:t>
                      </a:r>
                      <a:r>
                        <a:rPr sz="1200" dirty="0" err="1"/>
                        <a:t>피난불가</a:t>
                      </a:r>
                      <a:r>
                        <a:rPr sz="1200" dirty="0"/>
                        <a:t>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수평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대피공간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확보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RSET 33.6% 단축</a:t>
                      </a:r>
                      <a:br>
                        <a:rPr sz="1200"/>
                      </a:br>
                      <a:r>
                        <a:rPr sz="1200"/>
                        <a:t>(651.0초→432.0초)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박국희</a:t>
                      </a:r>
                      <a:br>
                        <a:rPr sz="1200"/>
                      </a:br>
                      <a:r>
                        <a:rPr sz="1200"/>
                        <a:t>(2023)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열감지기</a:t>
                      </a:r>
                      <a:br>
                        <a:rPr sz="1200"/>
                      </a:br>
                      <a:r>
                        <a:rPr sz="1200"/>
                        <a:t>감지 지연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연기감지기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교체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초기 화재 감지시간</a:t>
                      </a:r>
                      <a:br>
                        <a:rPr sz="1200"/>
                      </a:br>
                      <a:r>
                        <a:rPr sz="1200"/>
                        <a:t>170초 단축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배태훈</a:t>
                      </a:r>
                      <a:br>
                        <a:rPr sz="1200"/>
                      </a:br>
                      <a:r>
                        <a:rPr sz="1200"/>
                        <a:t>(2018)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연기 확산에</a:t>
                      </a:r>
                      <a:br>
                        <a:rPr sz="1200"/>
                      </a:br>
                      <a:r>
                        <a:rPr sz="1200"/>
                        <a:t>따른 고립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배연창 설치</a:t>
                      </a:r>
                      <a:br>
                        <a:rPr sz="1200"/>
                      </a:br>
                      <a:r>
                        <a:rPr sz="1200"/>
                        <a:t>(감지기 연동)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ASET 88.33초 </a:t>
                      </a:r>
                      <a:r>
                        <a:rPr sz="1200" dirty="0" err="1"/>
                        <a:t>증가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배태훈</a:t>
                      </a:r>
                      <a:br>
                        <a:rPr sz="1200"/>
                      </a:br>
                      <a:r>
                        <a:rPr sz="1200"/>
                        <a:t>(2018)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단일 피난로</a:t>
                      </a:r>
                      <a:br>
                        <a:rPr sz="1200"/>
                      </a:br>
                      <a:r>
                        <a:rPr sz="1200"/>
                        <a:t>병목 현상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복합 피난수단</a:t>
                      </a:r>
                      <a:br>
                        <a:rPr sz="1200"/>
                      </a:br>
                      <a:r>
                        <a:rPr sz="1200"/>
                        <a:t>동시 확보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RSET </a:t>
                      </a:r>
                      <a:r>
                        <a:rPr sz="1200" dirty="0" err="1"/>
                        <a:t>최대</a:t>
                      </a:r>
                      <a:r>
                        <a:rPr sz="1200" dirty="0"/>
                        <a:t> 46.37% </a:t>
                      </a:r>
                      <a:r>
                        <a:rPr sz="1200" dirty="0" err="1"/>
                        <a:t>단축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/>
                        <a:t>(805.5초→432.0초)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박국희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/>
                        <a:t>(2023)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1</a:t>
            </a:r>
            <a:r>
              <a:rPr lang="en-US" dirty="0" smtClean="0"/>
              <a:t>5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과업3. 시나리오별 RSET 비교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※ 경사로, 승강기, 대피공간을 모두 확보해야만 물리적 피난 한계를 극복할 수 있음 (박국희, 2023)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213231"/>
              </p:ext>
            </p:extLst>
          </p:nvPr>
        </p:nvGraphicFramePr>
        <p:xfrm>
          <a:off x="731520" y="192024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2286000"/>
                <a:gridCol w="338328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시나리오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피난수단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RSET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시나리오1 대비 단축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1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경사로만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805.5초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기준 (0%)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2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승강기만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686.8초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14.74% ↓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경사로</a:t>
                      </a:r>
                      <a:r>
                        <a:rPr sz="1200" dirty="0"/>
                        <a:t> + </a:t>
                      </a:r>
                      <a:r>
                        <a:rPr sz="1200" dirty="0" err="1"/>
                        <a:t>승강기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651.0초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19.18% ↓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4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승강기 + 대피공간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561.2초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30.33% ↓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5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경사로 + 대피공간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540.8초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32.86% ↓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6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경사로 + 승강기 + 대피공간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432.0초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46.37% ↓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303520"/>
            <a:ext cx="10698480" cy="50292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300" b="1">
                <a:solidFill>
                  <a:srgbClr val="1B2A4A"/>
                </a:solidFill>
                <a:latin typeface="맑은 고딕"/>
              </a:defRPr>
            </a:pPr>
            <a:r>
              <a:t>핵심: 시나리오 6 (복합 피난수단 모두 확보) → RSET 46.37% 단축, 805.5초 → 432.0초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1</a:t>
            </a:r>
            <a:r>
              <a:rPr lang="en-US" dirty="0" smtClean="0"/>
              <a:t>6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과업3. 표준안 ─ 유형별 대피계획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30728"/>
              </p:ext>
            </p:extLst>
          </p:nvPr>
        </p:nvGraphicFramePr>
        <p:xfrm>
          <a:off x="731520" y="1554480"/>
          <a:ext cx="1069848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412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항목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내용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대피 우선순위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C유형</a:t>
                      </a:r>
                      <a:r>
                        <a:rPr sz="1200" dirty="0"/>
                        <a:t>(</a:t>
                      </a:r>
                      <a:r>
                        <a:rPr sz="1200" dirty="0" err="1"/>
                        <a:t>거동불가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와상환자</a:t>
                      </a:r>
                      <a:r>
                        <a:rPr sz="1200" dirty="0"/>
                        <a:t>) → </a:t>
                      </a:r>
                      <a:r>
                        <a:rPr sz="1200" dirty="0" err="1"/>
                        <a:t>B유형</a:t>
                      </a:r>
                      <a:r>
                        <a:rPr sz="1200" dirty="0"/>
                        <a:t>(</a:t>
                      </a:r>
                      <a:r>
                        <a:rPr sz="1200" dirty="0" err="1"/>
                        <a:t>휠체어</a:t>
                      </a:r>
                      <a:r>
                        <a:rPr sz="1200" dirty="0"/>
                        <a:t>) → </a:t>
                      </a:r>
                      <a:r>
                        <a:rPr sz="1200" dirty="0" err="1"/>
                        <a:t>A유형</a:t>
                      </a:r>
                      <a:r>
                        <a:rPr sz="1200" dirty="0"/>
                        <a:t>(</a:t>
                      </a:r>
                      <a:r>
                        <a:rPr sz="1200" dirty="0" err="1"/>
                        <a:t>보행가능</a:t>
                      </a:r>
                      <a:r>
                        <a:rPr sz="1200" dirty="0"/>
                        <a:t>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대피 원칙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동일</a:t>
                      </a:r>
                      <a:r>
                        <a:rPr sz="1200" dirty="0"/>
                        <a:t> 층 </a:t>
                      </a:r>
                      <a:r>
                        <a:rPr sz="1200" dirty="0" err="1"/>
                        <a:t>인접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방화구획</a:t>
                      </a:r>
                      <a:r>
                        <a:rPr sz="1200" dirty="0"/>
                        <a:t>(</a:t>
                      </a:r>
                      <a:r>
                        <a:rPr sz="1200" dirty="0" err="1"/>
                        <a:t>비화재존</a:t>
                      </a:r>
                      <a:r>
                        <a:rPr sz="1200" dirty="0"/>
                        <a:t>)</a:t>
                      </a:r>
                      <a:r>
                        <a:rPr sz="1200" dirty="0" err="1"/>
                        <a:t>으로</a:t>
                      </a:r>
                      <a:r>
                        <a:rPr sz="1200" dirty="0"/>
                        <a:t> '</a:t>
                      </a:r>
                      <a:r>
                        <a:rPr sz="1200" dirty="0" err="1"/>
                        <a:t>침상</a:t>
                      </a:r>
                      <a:r>
                        <a:rPr sz="1200" dirty="0"/>
                        <a:t> 채 </a:t>
                      </a:r>
                      <a:r>
                        <a:rPr sz="1200" dirty="0" err="1"/>
                        <a:t>수평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이동</a:t>
                      </a:r>
                      <a:r>
                        <a:rPr sz="1200" dirty="0"/>
                        <a:t>' </a:t>
                      </a:r>
                      <a:r>
                        <a:rPr sz="1200" dirty="0" err="1"/>
                        <a:t>우선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상황별</a:t>
                      </a:r>
                      <a:br>
                        <a:rPr sz="1200"/>
                      </a:br>
                      <a:r>
                        <a:rPr sz="1200"/>
                        <a:t>대피 장소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주간</a:t>
                      </a:r>
                      <a:r>
                        <a:rPr sz="1200" dirty="0"/>
                        <a:t>: 1차 </a:t>
                      </a:r>
                      <a:r>
                        <a:rPr sz="1200" dirty="0" err="1"/>
                        <a:t>수평대피</a:t>
                      </a:r>
                      <a:r>
                        <a:rPr sz="1200" dirty="0"/>
                        <a:t> → </a:t>
                      </a:r>
                      <a:r>
                        <a:rPr sz="1200" dirty="0" err="1"/>
                        <a:t>상황에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따라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수직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피난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야간·심야</a:t>
                      </a:r>
                      <a:r>
                        <a:rPr sz="1200" dirty="0"/>
                        <a:t>: </a:t>
                      </a:r>
                      <a:r>
                        <a:rPr sz="1200" dirty="0" err="1"/>
                        <a:t>수직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피난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배제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층내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대피공간</a:t>
                      </a:r>
                      <a:r>
                        <a:rPr sz="1200" dirty="0"/>
                        <a:t> → </a:t>
                      </a:r>
                      <a:r>
                        <a:rPr sz="1200" dirty="0" err="1"/>
                        <a:t>소방대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구조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대기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인력배치표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교대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근무별</a:t>
                      </a:r>
                      <a:r>
                        <a:rPr sz="1200" dirty="0"/>
                        <a:t>(</a:t>
                      </a:r>
                      <a:r>
                        <a:rPr sz="1200" dirty="0" err="1"/>
                        <a:t>주간</a:t>
                      </a:r>
                      <a:r>
                        <a:rPr sz="1200" dirty="0"/>
                        <a:t>/</a:t>
                      </a:r>
                      <a:r>
                        <a:rPr sz="1200" dirty="0" err="1"/>
                        <a:t>야간</a:t>
                      </a:r>
                      <a:r>
                        <a:rPr sz="1200" dirty="0"/>
                        <a:t>/</a:t>
                      </a:r>
                      <a:r>
                        <a:rPr sz="1200" dirty="0" err="1"/>
                        <a:t>심야</a:t>
                      </a:r>
                      <a:r>
                        <a:rPr sz="1200" dirty="0"/>
                        <a:t>) </a:t>
                      </a:r>
                      <a:r>
                        <a:rPr sz="1200" dirty="0" err="1"/>
                        <a:t>구역·임무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담당자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실명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매트릭스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시설 유형별 대피계획서 작성례 (최소 3개 유형)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285268"/>
              </p:ext>
            </p:extLst>
          </p:nvPr>
        </p:nvGraphicFramePr>
        <p:xfrm>
          <a:off x="731520" y="4526280"/>
          <a:ext cx="106984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412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시설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유형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대피 계획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도심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고층형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층별</a:t>
                      </a:r>
                      <a:r>
                        <a:rPr sz="1200" dirty="0"/>
                        <a:t> 2개 </a:t>
                      </a:r>
                      <a:r>
                        <a:rPr sz="1200" dirty="0" err="1"/>
                        <a:t>이상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방화구획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분할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층내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수평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피난용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승강기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통제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교외 저층형/단독형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경사로·넓은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출입구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활용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휠체어·침대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환자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신속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옥외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동선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산림인접형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반대편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옥외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지정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구급차·시설차량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조기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외부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이송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1</a:t>
            </a:r>
            <a:r>
              <a:rPr lang="en-US" dirty="0" smtClean="0"/>
              <a:t>7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과업3. 표준안 ─ 종사자 4단계 행동 요령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319004"/>
              </p:ext>
            </p:extLst>
          </p:nvPr>
        </p:nvGraphicFramePr>
        <p:xfrm>
          <a:off x="731520" y="1554480"/>
          <a:ext cx="10698480" cy="2971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126480"/>
              </a:tblGrid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단계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역할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주요 임무 행동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1단계</a:t>
                      </a:r>
                      <a:br>
                        <a:rPr sz="1200"/>
                      </a:br>
                      <a:r>
                        <a:rPr sz="1200"/>
                        <a:t>발견자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최초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발견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직원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"불이야" 육성 전파,</a:t>
                      </a:r>
                      <a:br>
                        <a:rPr sz="1200"/>
                      </a:br>
                      <a:r>
                        <a:rPr sz="1200"/>
                        <a:t>소화기 초기 진압 시도 → 천장 번짐 시 즉시 대피 전환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2단계</a:t>
                      </a:r>
                      <a:br>
                        <a:rPr sz="1200"/>
                      </a:br>
                      <a:r>
                        <a:rPr sz="1200"/>
                        <a:t>전파자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상황본부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직원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비상벨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작동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원내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화재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방송</a:t>
                      </a:r>
                      <a:r>
                        <a:rPr sz="1200" dirty="0"/>
                        <a:t>(Code Red),</a:t>
                      </a:r>
                      <a:br>
                        <a:rPr sz="1200" dirty="0"/>
                      </a:br>
                      <a:r>
                        <a:rPr sz="1200" dirty="0"/>
                        <a:t>119 </a:t>
                      </a:r>
                      <a:r>
                        <a:rPr sz="1200" dirty="0" err="1"/>
                        <a:t>즉각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신고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3단계</a:t>
                      </a:r>
                      <a:br>
                        <a:rPr sz="1200"/>
                      </a:br>
                      <a:r>
                        <a:rPr sz="1200"/>
                        <a:t>대피지원자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인력배치표 기준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C → B → </a:t>
                      </a:r>
                      <a:r>
                        <a:rPr sz="1200" dirty="0" err="1"/>
                        <a:t>A유형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순서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물리적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이송·유도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수행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4단계</a:t>
                      </a:r>
                      <a:br>
                        <a:rPr sz="1200"/>
                      </a:br>
                      <a:r>
                        <a:rPr sz="1200"/>
                        <a:t>확인자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최종 점검 직원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빈 방 </a:t>
                      </a:r>
                      <a:r>
                        <a:rPr sz="1200" dirty="0" err="1"/>
                        <a:t>출입문·방화문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확실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폐쇄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1</a:t>
            </a:r>
            <a:r>
              <a:rPr lang="en-US" dirty="0" smtClean="0"/>
              <a:t>8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과업3. 야간(최소 인력) 시간대 특화 시나리오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4864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54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rPr dirty="0" err="1"/>
              <a:t>단거리</a:t>
            </a:r>
            <a:r>
              <a:rPr dirty="0"/>
              <a:t> </a:t>
            </a:r>
            <a:r>
              <a:rPr dirty="0" err="1"/>
              <a:t>수평</a:t>
            </a:r>
            <a:r>
              <a:rPr dirty="0"/>
              <a:t> </a:t>
            </a:r>
            <a:r>
              <a:rPr dirty="0" err="1"/>
              <a:t>피난</a:t>
            </a:r>
            <a:r>
              <a:rPr dirty="0"/>
              <a:t> </a:t>
            </a:r>
            <a:r>
              <a:rPr dirty="0" err="1"/>
              <a:t>모델</a:t>
            </a:r>
            <a:r>
              <a:rPr dirty="0"/>
              <a:t> (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대기</a:t>
            </a:r>
            <a:r>
              <a:rPr dirty="0"/>
              <a:t> </a:t>
            </a:r>
            <a:r>
              <a:rPr dirty="0" err="1"/>
              <a:t>집중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65960"/>
            <a:ext cx="9601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rPr sz="1200" dirty="0" err="1"/>
              <a:t>전략</a:t>
            </a:r>
            <a:r>
              <a:rPr sz="1200" dirty="0"/>
              <a:t>: </a:t>
            </a:r>
            <a:r>
              <a:rPr sz="1200" dirty="0" err="1"/>
              <a:t>무리한</a:t>
            </a:r>
            <a:r>
              <a:rPr sz="1200" dirty="0"/>
              <a:t> </a:t>
            </a:r>
            <a:r>
              <a:rPr sz="1200" dirty="0" err="1"/>
              <a:t>수직</a:t>
            </a:r>
            <a:r>
              <a:rPr sz="1200" dirty="0"/>
              <a:t> </a:t>
            </a:r>
            <a:r>
              <a:rPr sz="1200" dirty="0" err="1"/>
              <a:t>피난을</a:t>
            </a:r>
            <a:r>
              <a:rPr sz="1200" dirty="0"/>
              <a:t> </a:t>
            </a:r>
            <a:r>
              <a:rPr sz="1200" dirty="0" err="1"/>
              <a:t>배제하고</a:t>
            </a:r>
            <a:r>
              <a:rPr sz="1200" dirty="0"/>
              <a:t>, </a:t>
            </a:r>
            <a:r>
              <a:rPr sz="1200" dirty="0" err="1"/>
              <a:t>와상환자를</a:t>
            </a:r>
            <a:r>
              <a:rPr sz="1200" dirty="0"/>
              <a:t> </a:t>
            </a:r>
            <a:r>
              <a:rPr sz="1200" dirty="0" err="1"/>
              <a:t>동일</a:t>
            </a:r>
            <a:r>
              <a:rPr sz="1200" dirty="0"/>
              <a:t> 층 </a:t>
            </a:r>
            <a:r>
              <a:rPr sz="1200" dirty="0" err="1"/>
              <a:t>인접</a:t>
            </a:r>
            <a:r>
              <a:rPr sz="1200" dirty="0"/>
              <a:t> </a:t>
            </a:r>
            <a:r>
              <a:rPr sz="1200" dirty="0" err="1"/>
              <a:t>방화구획으로</a:t>
            </a:r>
            <a:r>
              <a:rPr sz="1200" dirty="0"/>
              <a:t> </a:t>
            </a:r>
            <a:r>
              <a:rPr sz="1200" dirty="0" err="1"/>
              <a:t>우선</a:t>
            </a:r>
            <a:r>
              <a:rPr sz="1200" dirty="0"/>
              <a:t> </a:t>
            </a:r>
            <a:r>
              <a:rPr sz="1200" dirty="0" err="1"/>
              <a:t>이동</a:t>
            </a:r>
            <a:endParaRPr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463040" y="2331720"/>
            <a:ext cx="9601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1">
                <a:solidFill>
                  <a:srgbClr val="2E86AB"/>
                </a:solidFill>
                <a:latin typeface="맑은 고딕"/>
              </a:defRPr>
            </a:pPr>
            <a:r>
              <a:rPr sz="1200" dirty="0" err="1"/>
              <a:t>기대효과</a:t>
            </a:r>
            <a:r>
              <a:rPr sz="1200" dirty="0"/>
              <a:t>: </a:t>
            </a:r>
            <a:r>
              <a:rPr sz="1200" dirty="0" err="1"/>
              <a:t>방화문</a:t>
            </a:r>
            <a:r>
              <a:rPr sz="1200" dirty="0"/>
              <a:t> </a:t>
            </a:r>
            <a:r>
              <a:rPr sz="1200" dirty="0" err="1"/>
              <a:t>완벽</a:t>
            </a:r>
            <a:r>
              <a:rPr sz="1200" dirty="0"/>
              <a:t> </a:t>
            </a:r>
            <a:r>
              <a:rPr sz="1200" dirty="0" err="1"/>
              <a:t>차단</a:t>
            </a:r>
            <a:r>
              <a:rPr sz="1200" dirty="0"/>
              <a:t> → </a:t>
            </a:r>
            <a:r>
              <a:rPr sz="1200" dirty="0" err="1"/>
              <a:t>연기</a:t>
            </a:r>
            <a:r>
              <a:rPr sz="1200" dirty="0"/>
              <a:t> </a:t>
            </a:r>
            <a:r>
              <a:rPr sz="1200" dirty="0" err="1"/>
              <a:t>유입</a:t>
            </a:r>
            <a:r>
              <a:rPr sz="1200" dirty="0"/>
              <a:t> </a:t>
            </a:r>
            <a:r>
              <a:rPr sz="1200" dirty="0" err="1"/>
              <a:t>차단</a:t>
            </a:r>
            <a:r>
              <a:rPr sz="1200" dirty="0"/>
              <a:t> → </a:t>
            </a:r>
            <a:r>
              <a:rPr sz="1200" dirty="0" err="1"/>
              <a:t>소방대</a:t>
            </a:r>
            <a:r>
              <a:rPr sz="1200" dirty="0"/>
              <a:t> </a:t>
            </a:r>
            <a:r>
              <a:rPr sz="1200" dirty="0" err="1"/>
              <a:t>도착</a:t>
            </a:r>
            <a:r>
              <a:rPr sz="1200" dirty="0"/>
              <a:t> 전 </a:t>
            </a:r>
            <a:r>
              <a:rPr sz="1200" dirty="0" err="1"/>
              <a:t>골든타임</a:t>
            </a:r>
            <a:r>
              <a:rPr sz="1200" dirty="0"/>
              <a:t> </a:t>
            </a:r>
            <a:r>
              <a:rPr sz="1200" dirty="0" err="1"/>
              <a:t>확보</a:t>
            </a:r>
            <a:endParaRPr sz="1200" dirty="0"/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4864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2안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71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중증도 기반 사전 재배치 모델 (위험 원천 제거)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83280"/>
            <a:ext cx="9601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rPr sz="1200" dirty="0" err="1"/>
              <a:t>전략</a:t>
            </a:r>
            <a:r>
              <a:rPr sz="1200" dirty="0"/>
              <a:t>: </a:t>
            </a:r>
            <a:r>
              <a:rPr sz="1200" dirty="0" err="1"/>
              <a:t>고위험</a:t>
            </a:r>
            <a:r>
              <a:rPr sz="1200" dirty="0"/>
              <a:t> </a:t>
            </a:r>
            <a:r>
              <a:rPr sz="1200" dirty="0" err="1"/>
              <a:t>환자군을</a:t>
            </a:r>
            <a:r>
              <a:rPr sz="1200" dirty="0"/>
              <a:t> 1층 </a:t>
            </a:r>
            <a:r>
              <a:rPr sz="1200" dirty="0" err="1"/>
              <a:t>또는</a:t>
            </a:r>
            <a:r>
              <a:rPr sz="1200" dirty="0"/>
              <a:t> </a:t>
            </a:r>
            <a:r>
              <a:rPr sz="1200" dirty="0" err="1"/>
              <a:t>피난층</a:t>
            </a:r>
            <a:r>
              <a:rPr sz="1200" dirty="0"/>
              <a:t> 등 </a:t>
            </a:r>
            <a:r>
              <a:rPr sz="1200" dirty="0" err="1"/>
              <a:t>대피가</a:t>
            </a:r>
            <a:r>
              <a:rPr sz="1200" dirty="0"/>
              <a:t> </a:t>
            </a:r>
            <a:r>
              <a:rPr sz="1200" dirty="0" err="1"/>
              <a:t>용이한</a:t>
            </a:r>
            <a:r>
              <a:rPr sz="1200" dirty="0"/>
              <a:t> </a:t>
            </a:r>
            <a:r>
              <a:rPr sz="1200" dirty="0" err="1"/>
              <a:t>구역에</a:t>
            </a:r>
            <a:r>
              <a:rPr sz="1200" dirty="0"/>
              <a:t> </a:t>
            </a:r>
            <a:r>
              <a:rPr sz="1200" dirty="0" err="1"/>
              <a:t>선제적으로</a:t>
            </a:r>
            <a:r>
              <a:rPr sz="1200" dirty="0"/>
              <a:t> </a:t>
            </a:r>
            <a:r>
              <a:rPr sz="1200" dirty="0" err="1"/>
              <a:t>배치</a:t>
            </a:r>
            <a:endParaRPr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1463040" y="3749039"/>
            <a:ext cx="9601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1">
                <a:solidFill>
                  <a:srgbClr val="2E86AB"/>
                </a:solidFill>
                <a:latin typeface="맑은 고딕"/>
              </a:defRPr>
            </a:pPr>
            <a:r>
              <a:rPr sz="1200" dirty="0" err="1"/>
              <a:t>기대효과</a:t>
            </a:r>
            <a:r>
              <a:rPr sz="1200" dirty="0"/>
              <a:t>: </a:t>
            </a:r>
            <a:r>
              <a:rPr sz="1200" dirty="0" err="1"/>
              <a:t>심야</a:t>
            </a:r>
            <a:r>
              <a:rPr sz="1200" dirty="0"/>
              <a:t> </a:t>
            </a:r>
            <a:r>
              <a:rPr sz="1200" dirty="0" err="1"/>
              <a:t>시간대</a:t>
            </a:r>
            <a:r>
              <a:rPr sz="1200" dirty="0"/>
              <a:t> </a:t>
            </a:r>
            <a:r>
              <a:rPr sz="1200" dirty="0" err="1"/>
              <a:t>침대</a:t>
            </a:r>
            <a:r>
              <a:rPr sz="1200" dirty="0"/>
              <a:t> </a:t>
            </a:r>
            <a:r>
              <a:rPr sz="1200" dirty="0" err="1"/>
              <a:t>이동</a:t>
            </a:r>
            <a:r>
              <a:rPr sz="1200" dirty="0"/>
              <a:t> </a:t>
            </a:r>
            <a:r>
              <a:rPr sz="1200" dirty="0" err="1"/>
              <a:t>동선</a:t>
            </a:r>
            <a:r>
              <a:rPr sz="1200" dirty="0"/>
              <a:t> </a:t>
            </a:r>
            <a:r>
              <a:rPr sz="1200" dirty="0" err="1"/>
              <a:t>자체를</a:t>
            </a:r>
            <a:r>
              <a:rPr sz="1200" dirty="0"/>
              <a:t> </a:t>
            </a:r>
            <a:r>
              <a:rPr sz="1200" dirty="0" err="1"/>
              <a:t>원천적으로</a:t>
            </a:r>
            <a:r>
              <a:rPr sz="1200" dirty="0"/>
              <a:t> </a:t>
            </a:r>
            <a:r>
              <a:rPr sz="1200" dirty="0" err="1"/>
              <a:t>최소화</a:t>
            </a:r>
            <a:endParaRPr sz="1200" dirty="0"/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548640" cy="3657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3안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근무자 부담 분산 모델 (자력 피난 환경 조성)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800600"/>
            <a:ext cx="9601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rPr sz="1200" dirty="0" err="1"/>
              <a:t>전략</a:t>
            </a:r>
            <a:r>
              <a:rPr sz="1200" dirty="0"/>
              <a:t>: </a:t>
            </a:r>
            <a:r>
              <a:rPr sz="1200" dirty="0" err="1"/>
              <a:t>보행</a:t>
            </a:r>
            <a:r>
              <a:rPr sz="1200" dirty="0"/>
              <a:t> </a:t>
            </a:r>
            <a:r>
              <a:rPr sz="1200" dirty="0" err="1"/>
              <a:t>가능</a:t>
            </a:r>
            <a:r>
              <a:rPr sz="1200" dirty="0"/>
              <a:t> </a:t>
            </a:r>
            <a:r>
              <a:rPr sz="1200" dirty="0" err="1"/>
              <a:t>환자</a:t>
            </a:r>
            <a:r>
              <a:rPr sz="1200" dirty="0"/>
              <a:t>(</a:t>
            </a:r>
            <a:r>
              <a:rPr sz="1200" dirty="0" err="1"/>
              <a:t>A유형</a:t>
            </a:r>
            <a:r>
              <a:rPr sz="1200" dirty="0"/>
              <a:t>)가 </a:t>
            </a:r>
            <a:r>
              <a:rPr sz="1200" dirty="0" err="1"/>
              <a:t>시각적</a:t>
            </a:r>
            <a:r>
              <a:rPr sz="1200" dirty="0"/>
              <a:t> </a:t>
            </a:r>
            <a:r>
              <a:rPr sz="1200" dirty="0" err="1"/>
              <a:t>유도선으로</a:t>
            </a:r>
            <a:r>
              <a:rPr sz="1200" dirty="0"/>
              <a:t> </a:t>
            </a:r>
            <a:r>
              <a:rPr sz="1200" dirty="0" err="1"/>
              <a:t>스스로</a:t>
            </a:r>
            <a:r>
              <a:rPr sz="1200" dirty="0"/>
              <a:t> </a:t>
            </a:r>
            <a:r>
              <a:rPr sz="1200" dirty="0" err="1"/>
              <a:t>옥외</a:t>
            </a:r>
            <a:r>
              <a:rPr sz="1200" dirty="0"/>
              <a:t> </a:t>
            </a:r>
            <a:r>
              <a:rPr sz="1200" dirty="0" err="1"/>
              <a:t>대피할</a:t>
            </a:r>
            <a:r>
              <a:rPr sz="1200" dirty="0"/>
              <a:t> 수 </a:t>
            </a:r>
            <a:r>
              <a:rPr sz="1200" dirty="0" err="1"/>
              <a:t>있는</a:t>
            </a:r>
            <a:r>
              <a:rPr sz="1200" dirty="0"/>
              <a:t> </a:t>
            </a:r>
            <a:r>
              <a:rPr sz="1200" dirty="0" err="1"/>
              <a:t>환경</a:t>
            </a:r>
            <a:r>
              <a:rPr sz="1200" dirty="0"/>
              <a:t> </a:t>
            </a:r>
            <a:r>
              <a:rPr sz="1200" dirty="0" err="1"/>
              <a:t>구축</a:t>
            </a:r>
            <a:endParaRPr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1463040" y="5166359"/>
            <a:ext cx="960120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1">
                <a:solidFill>
                  <a:srgbClr val="2E86AB"/>
                </a:solidFill>
                <a:latin typeface="맑은 고딕"/>
              </a:defRPr>
            </a:pPr>
            <a:r>
              <a:rPr sz="1200" dirty="0" err="1"/>
              <a:t>기대효과</a:t>
            </a:r>
            <a:r>
              <a:rPr sz="1200" dirty="0"/>
              <a:t>: </a:t>
            </a:r>
            <a:r>
              <a:rPr sz="1200" dirty="0" err="1"/>
              <a:t>한정된</a:t>
            </a:r>
            <a:r>
              <a:rPr sz="1200" dirty="0"/>
              <a:t> </a:t>
            </a:r>
            <a:r>
              <a:rPr sz="1200" dirty="0" err="1"/>
              <a:t>야간</a:t>
            </a:r>
            <a:r>
              <a:rPr sz="1200" dirty="0"/>
              <a:t> </a:t>
            </a:r>
            <a:r>
              <a:rPr sz="1200" dirty="0" err="1"/>
              <a:t>근무자가</a:t>
            </a:r>
            <a:r>
              <a:rPr sz="1200" dirty="0"/>
              <a:t> </a:t>
            </a:r>
            <a:r>
              <a:rPr sz="1200" dirty="0" err="1"/>
              <a:t>C유형</a:t>
            </a:r>
            <a:r>
              <a:rPr sz="1200" dirty="0"/>
              <a:t> </a:t>
            </a:r>
            <a:r>
              <a:rPr sz="1200" dirty="0" err="1"/>
              <a:t>구조에만</a:t>
            </a:r>
            <a:r>
              <a:rPr sz="1200" dirty="0"/>
              <a:t> </a:t>
            </a:r>
            <a:r>
              <a:rPr sz="1200" dirty="0" err="1"/>
              <a:t>전념</a:t>
            </a:r>
            <a:r>
              <a:rPr sz="1200" dirty="0"/>
              <a:t> </a:t>
            </a:r>
            <a:r>
              <a:rPr sz="1200" dirty="0" err="1"/>
              <a:t>가능</a:t>
            </a:r>
            <a:endParaRPr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1</a:t>
            </a:r>
            <a:r>
              <a:rPr lang="en-US" dirty="0" smtClean="0"/>
              <a:t>9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과업4. 합동 훈련 시나리오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유관기관 협업 체계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993296"/>
              </p:ext>
            </p:extLst>
          </p:nvPr>
        </p:nvGraphicFramePr>
        <p:xfrm>
          <a:off x="731520" y="1874519"/>
          <a:ext cx="1069848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70408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기관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주체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핵심 임무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시설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요양</a:t>
                      </a:r>
                      <a:r>
                        <a:rPr sz="1200" dirty="0"/>
                        <a:t>(병)원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화재 상황 전파·초기 대응, 입소 환자 대피 유도, 119 신고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소방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관할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소방서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화재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진압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현장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인명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구조·구급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중증도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분류</a:t>
                      </a:r>
                      <a:r>
                        <a:rPr sz="1200" dirty="0"/>
                        <a:t> 및 </a:t>
                      </a:r>
                      <a:r>
                        <a:rPr sz="1200" dirty="0" err="1"/>
                        <a:t>병원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이송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보건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관할 보건소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현장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응급의료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지원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전원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환자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건강상태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파악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지자체</a:t>
                      </a:r>
                      <a:br>
                        <a:rPr sz="1200"/>
                      </a:br>
                      <a:r>
                        <a:rPr sz="1200"/>
                        <a:t>(기초)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시·군·구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현장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대응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인력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지원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대규모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이송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차량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동원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지자체</a:t>
                      </a:r>
                      <a:br>
                        <a:rPr sz="1200"/>
                      </a:br>
                      <a:r>
                        <a:rPr sz="1200"/>
                        <a:t>(광역)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시·도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재난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상황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총괄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지휘·조정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외부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임시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지정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현장 적용성을 높인 3종 훈련 체계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679627"/>
              </p:ext>
            </p:extLst>
          </p:nvPr>
        </p:nvGraphicFramePr>
        <p:xfrm>
          <a:off x="731520" y="5029200"/>
          <a:ext cx="10698480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754880"/>
              </a:tblGrid>
              <a:tr h="2971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훈련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유형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방식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활용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도상훈련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도면·인력배치표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기반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토론형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종사자별 임무·수평 피난 동선 점검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현장 모의훈련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실전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기동형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/>
                        <a:t>(</a:t>
                      </a:r>
                      <a:r>
                        <a:rPr sz="1200" dirty="0" err="1"/>
                        <a:t>침대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이동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방화문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폐쇄</a:t>
                      </a:r>
                      <a:r>
                        <a:rPr sz="1200" dirty="0"/>
                        <a:t> 등)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대본형 가이드 제공,</a:t>
                      </a:r>
                      <a:br>
                        <a:rPr sz="1200"/>
                      </a:br>
                      <a:r>
                        <a:rPr sz="1200"/>
                        <a:t>시설 자체 분기별 실시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전문가 참여 훈련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외부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유관기관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직접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참여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종합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검증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자동속보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연동</a:t>
                      </a:r>
                      <a:r>
                        <a:rPr sz="1200" dirty="0"/>
                        <a:t>, 119 </a:t>
                      </a:r>
                      <a:r>
                        <a:rPr sz="1200" dirty="0" err="1"/>
                        <a:t>환자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인계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대피소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이동</a:t>
                      </a:r>
                      <a:r>
                        <a:rPr sz="1200" dirty="0"/>
                        <a:t> 등 </a:t>
                      </a:r>
                      <a:r>
                        <a:rPr sz="1200" dirty="0" err="1"/>
                        <a:t>총합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검증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20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과업4. 시계열 6단계 타임라인 진행표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828800"/>
            <a:ext cx="155448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STEP 1. 발화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1938528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97480" y="1828800"/>
            <a:ext cx="15544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STEP 2. 감지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51960" y="1938528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155448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STEP 3. 전파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35040" y="1938528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15544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STEP 4. 대피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818119" y="1938528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155448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STEP 5. 확인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601200" y="1938528"/>
            <a:ext cx="228600" cy="274320"/>
          </a:xfrm>
          <a:prstGeom prst="rightArrow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829800" y="1828800"/>
            <a:ext cx="1554480" cy="502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50800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STEP 6. 수습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주간/야간 분리 시나리오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00400"/>
            <a:ext cx="5120640" cy="2286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2A4A"/>
                </a:solidFill>
                <a:latin typeface="맑은 고딕"/>
              </a:defRPr>
            </a:pPr>
            <a:r>
              <a:t>☀  주간 시나리오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49039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충분한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확보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상태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C유형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1차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실시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상황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따라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가능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'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적극적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및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초기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진화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'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중심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09360" y="3200400"/>
            <a:ext cx="5120640" cy="22860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🌙  야간·심야 시나리오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49039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A0C4E8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최소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인력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근무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상태</a:t>
            </a:r>
            <a:endParaRPr sz="1200" dirty="0">
              <a:solidFill>
                <a:srgbClr val="FFFFFF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A0C4E8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외부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대피·수직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이동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전면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배제</a:t>
            </a:r>
            <a:endParaRPr sz="1200" dirty="0">
              <a:solidFill>
                <a:srgbClr val="FFFFFF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A0C4E8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자동속보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119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전파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집중</a:t>
            </a:r>
            <a:endParaRPr sz="1200" dirty="0">
              <a:solidFill>
                <a:srgbClr val="FFFFFF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A0C4E8"/>
                </a:solidFill>
                <a:latin typeface="맑은 고딕"/>
              </a:rPr>
              <a:t>●  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'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수평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피난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+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생존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대기</a:t>
            </a:r>
            <a:r>
              <a:rPr sz="1200" dirty="0">
                <a:solidFill>
                  <a:srgbClr val="FFFFFF"/>
                </a:solidFill>
                <a:latin typeface="맑은 고딕"/>
              </a:rPr>
              <a:t>' </a:t>
            </a:r>
            <a:r>
              <a:rPr sz="1200" dirty="0" err="1">
                <a:solidFill>
                  <a:srgbClr val="FFFFFF"/>
                </a:solidFill>
                <a:latin typeface="맑은 고딕"/>
              </a:rPr>
              <a:t>집중</a:t>
            </a:r>
            <a:endParaRPr sz="1200" dirty="0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21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과업4. 정책 과제 ─ 법령 및 제도 개선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맑은 고딕"/>
              </a:defRPr>
            </a:pPr>
            <a:r>
              <a:t>현행 법령의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5156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부처별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용어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파편화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요양병원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의료법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노인요양시설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노인복지법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노유자시설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소방시설법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</a:t>
            </a: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재실자의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위험도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와상환자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)는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동일하나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바닥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면적에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따라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설비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기준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제각각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위락시설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등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화재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고위험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시설과의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용도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혼재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원천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금지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미비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309295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AB"/>
                </a:solidFill>
                <a:latin typeface="맑은 고딕"/>
              </a:defRPr>
            </a:pPr>
            <a:r>
              <a:t>개선 제안: 「피난약자시설」 단일 법적 카테고리 신설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50158"/>
            <a:ext cx="10698480" cy="8229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200" b="1">
                <a:solidFill>
                  <a:srgbClr val="1B2A4A"/>
                </a:solidFill>
                <a:latin typeface="맑은 고딕"/>
              </a:defRPr>
            </a:pPr>
            <a:r>
              <a:rPr dirty="0"/>
              <a:t>24시간 </a:t>
            </a:r>
            <a:r>
              <a:rPr dirty="0" err="1"/>
              <a:t>피난약자가</a:t>
            </a:r>
            <a:r>
              <a:rPr dirty="0"/>
              <a:t> </a:t>
            </a:r>
            <a:r>
              <a:rPr dirty="0" err="1"/>
              <a:t>숙식하는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시설</a:t>
            </a:r>
            <a:r>
              <a:rPr dirty="0"/>
              <a:t>(</a:t>
            </a:r>
            <a:r>
              <a:rPr dirty="0" err="1"/>
              <a:t>요양병원</a:t>
            </a:r>
            <a:r>
              <a:rPr dirty="0"/>
              <a:t>, </a:t>
            </a:r>
            <a:r>
              <a:rPr dirty="0" err="1"/>
              <a:t>노인요양시설</a:t>
            </a:r>
            <a:r>
              <a:rPr dirty="0"/>
              <a:t>, </a:t>
            </a:r>
            <a:r>
              <a:rPr dirty="0" err="1"/>
              <a:t>장애인</a:t>
            </a:r>
            <a:r>
              <a:rPr dirty="0"/>
              <a:t> </a:t>
            </a:r>
            <a:r>
              <a:rPr dirty="0" err="1"/>
              <a:t>거주시설</a:t>
            </a:r>
            <a:r>
              <a:rPr dirty="0"/>
              <a:t> 등)을</a:t>
            </a:r>
            <a:br>
              <a:rPr dirty="0"/>
            </a:br>
            <a:r>
              <a:rPr dirty="0"/>
              <a:t>「</a:t>
            </a:r>
            <a:r>
              <a:rPr dirty="0" err="1"/>
              <a:t>피난약자시설」이라는</a:t>
            </a:r>
            <a:r>
              <a:rPr dirty="0"/>
              <a:t> </a:t>
            </a:r>
            <a:r>
              <a:rPr dirty="0" err="1"/>
              <a:t>새로운</a:t>
            </a:r>
            <a:r>
              <a:rPr dirty="0"/>
              <a:t>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법적</a:t>
            </a:r>
            <a:r>
              <a:rPr dirty="0"/>
              <a:t> </a:t>
            </a:r>
            <a:r>
              <a:rPr dirty="0" err="1"/>
              <a:t>카테고리로</a:t>
            </a:r>
            <a:r>
              <a:rPr dirty="0"/>
              <a:t>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신설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기대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515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명칭·면적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관계없이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'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스프링클러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설치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' 등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동일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안전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기준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예외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없이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적용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직관적인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화재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안전망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구축으로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소규모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사각지대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완전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해소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22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과업4. 시설 자체 평가 도구 및 인센티브 제도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A~D등급 체계 기반 시설 자체 평가 도구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4대 평가 계층: ①피난·방화계획(최우선) → ②화재안전관리·예방 → ③소방시설 점검 → ④소방대 활동 가능성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706100"/>
              </p:ext>
            </p:extLst>
          </p:nvPr>
        </p:nvGraphicFramePr>
        <p:xfrm>
          <a:off x="731520" y="22860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등급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기준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활용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A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법적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기준</a:t>
                      </a:r>
                      <a:r>
                        <a:rPr sz="1200" dirty="0"/>
                        <a:t> "</a:t>
                      </a:r>
                      <a:r>
                        <a:rPr sz="1200" dirty="0" err="1"/>
                        <a:t>초과</a:t>
                      </a:r>
                      <a:r>
                        <a:rPr sz="1200" dirty="0"/>
                        <a:t>" + </a:t>
                      </a:r>
                      <a:r>
                        <a:rPr sz="1200" dirty="0" err="1"/>
                        <a:t>추가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안전대책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보유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우수시설 인증마크 대상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B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법적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기준</a:t>
                      </a:r>
                      <a:r>
                        <a:rPr sz="1200" dirty="0"/>
                        <a:t> "</a:t>
                      </a:r>
                      <a:r>
                        <a:rPr sz="1200" dirty="0" err="1"/>
                        <a:t>충족</a:t>
                      </a:r>
                      <a:r>
                        <a:rPr sz="1200" dirty="0"/>
                        <a:t>"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현행 유지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C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유지·관리</a:t>
                      </a:r>
                      <a:r>
                        <a:rPr sz="1200" dirty="0"/>
                        <a:t> "</a:t>
                      </a:r>
                      <a:r>
                        <a:rPr sz="1200" dirty="0" err="1"/>
                        <a:t>미흡</a:t>
                      </a:r>
                      <a:r>
                        <a:rPr sz="1200" dirty="0"/>
                        <a:t>"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방문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컨설팅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우선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대상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D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법적 기준 "미달"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긴급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개선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대상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민간 자발적 안전 투자 유도 인센티브 제도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600"/>
              </a:spcAft>
            </a:pPr>
            <a:r>
              <a:rPr sz="7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A등급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'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안전관리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우수시설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인증마크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'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부여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환자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유치·홍보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활용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7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국민건강보험공단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요양기관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평가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및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지자체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재난관리평가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가점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부여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7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민간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운영자의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자발적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소방시설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투자·훈련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참여를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유도하는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선순환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구조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구축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2</a:t>
            </a:r>
            <a:r>
              <a:rPr lang="en-US" dirty="0" smtClean="0"/>
              <a:t>3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투-트랙(Two-Track) 맞춤형 대피 표준모델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E8F4FD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86AB"/>
                </a:solidFill>
                <a:latin typeface="맑은 고딕"/>
              </a:defRPr>
            </a:pPr>
            <a:r>
              <a:t>Track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대형 요양병원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D5A80"/>
                </a:solidFill>
                <a:latin typeface="맑은 고딕"/>
              </a:defRPr>
            </a:pPr>
            <a:r>
              <a:t>수평 피난 및 제자리 방어 (Defend-in-Place)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788920"/>
            <a:ext cx="45720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맑은 고딕"/>
              </a:defRPr>
            </a:pPr>
            <a:r>
              <a:t>하드웨어적 대책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4754880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층별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최소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2개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방화구획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설치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침대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진입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가능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피난용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승강기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확보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열감지기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연기감지기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교체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배연창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감지기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연동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설치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맑은 고딕"/>
              </a:defRPr>
            </a:pPr>
            <a:r>
              <a:t>소프트웨어적 대책 (행동 매뉴얼)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47548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C→B→A유형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인접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방화구획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이동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야간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이동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배제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수평피난+생존대기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종사자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4단계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임무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규격화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7E22"/>
                </a:solidFill>
                <a:latin typeface="맑은 고딕"/>
              </a:defRPr>
            </a:pPr>
            <a:r>
              <a:t>Track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소규모 요양원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231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D5A80"/>
                </a:solidFill>
                <a:latin typeface="맑은 고딕"/>
              </a:defRPr>
            </a:pPr>
            <a:r>
              <a:t>신속 옥외 피난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788920"/>
            <a:ext cx="457200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880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맑은 고딕"/>
              </a:defRPr>
            </a:pPr>
            <a:r>
              <a:t>하드웨어적 대책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54680"/>
            <a:ext cx="47548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단거리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옥외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경사로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확보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넓은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출입구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확보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자동화재속보설비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완비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4526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2A4A"/>
                </a:solidFill>
                <a:latin typeface="맑은 고딕"/>
              </a:defRPr>
            </a:pPr>
            <a:r>
              <a:t>소프트웨어적 대책 (행동 매뉴얼)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800600"/>
            <a:ext cx="47548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신속히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건물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밖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옥외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대피소로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이동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야간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초기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진화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미집착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즉시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119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신고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4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인력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총력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환자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탈출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최우선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2</a:t>
            </a: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Ⅱ. 세부 연구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중장기 확산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301752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1단계: 도입·검증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연구 완료 후</a:t>
            </a:r>
            <a:br/>
            <a:r>
              <a:t>6개월 이내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3017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3~5개소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시범사업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운영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유형별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대피계획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표준안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+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합동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훈련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시나리오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적용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종사자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매뉴얼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이해도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동선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현장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작동성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교차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검증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1691640"/>
            <a:ext cx="3017520" cy="411480"/>
          </a:xfrm>
          <a:prstGeom prst="round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2단계: 보급·교육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모델 확정 후</a:t>
            </a:r>
            <a:br/>
            <a:r>
              <a:t>1~2년차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34640"/>
            <a:ext cx="3017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3D5A80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행안부·복지부·소방청·대한요양병원협회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간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공조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체계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구축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3D5A80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고위험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우선순위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선정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전문가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현장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맞춤형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컨설팅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3D5A80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전국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매뉴얼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배포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D0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0" y="1691640"/>
            <a:ext cx="301752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81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3단계: 정착·제도화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40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모델 확정 후</a:t>
            </a:r>
            <a:br/>
            <a:r>
              <a:t>2~3년차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834640"/>
            <a:ext cx="30175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1B2A4A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법정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소방계획서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양식에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대피체계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표준안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통합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1B2A4A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합동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모의훈련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정례화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지자체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정기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안전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점검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항목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반영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1B2A4A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A~D등급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자가진단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도구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전국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보급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→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상시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사후관리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체계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구축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2</a:t>
            </a:r>
            <a:r>
              <a:rPr lang="en-US" dirty="0" smtClean="0"/>
              <a:t>5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Ⅲ. 사업 관리 및 기관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연구 추진 일정 및 마일스톤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276184"/>
              </p:ext>
            </p:extLst>
          </p:nvPr>
        </p:nvGraphicFramePr>
        <p:xfrm>
          <a:off x="731520" y="1554480"/>
          <a:ext cx="10698480" cy="4196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4114800"/>
                <a:gridCol w="3566160"/>
              </a:tblGrid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단계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수행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주요 과업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핵심 산출물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1단계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1~2개월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기초현황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조사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화재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사례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분석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관계자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심층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인터뷰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현황보고서</a:t>
                      </a:r>
                      <a:br>
                        <a:rPr sz="1200"/>
                      </a:br>
                      <a:r>
                        <a:rPr sz="1200"/>
                        <a:t>유형분류표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2단계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2~4개월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국내외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비교분석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유형별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대피체계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표준모델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초안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개발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비교분석보고서</a:t>
                      </a:r>
                      <a:br>
                        <a:rPr sz="1200"/>
                      </a:br>
                      <a:r>
                        <a:rPr sz="1200"/>
                        <a:t>표준안 초안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3단계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4~5개월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행동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매뉴얼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합동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훈련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시나리오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정책과제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발굴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행동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매뉴얼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훈련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시나리오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정책과제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제안서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4단계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5~6개월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전문가 자문·현장 검토,</a:t>
                      </a:r>
                      <a:br>
                        <a:rPr sz="1200"/>
                      </a:br>
                      <a:r>
                        <a:rPr sz="1200"/>
                        <a:t>최종 모델 보완</a:t>
                      </a:r>
                      <a:br>
                        <a:rPr sz="1200"/>
                      </a:br>
                      <a:r>
                        <a:rPr sz="1200"/>
                        <a:t>완료 보고회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최종보고서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요약보고서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2</a:t>
            </a:r>
            <a:r>
              <a:rPr lang="en-US" dirty="0" smtClean="0"/>
              <a:t>6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Ⅲ. 사업 관리 및 기관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보고 체계 및 품질관리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486710"/>
              </p:ext>
            </p:extLst>
          </p:nvPr>
        </p:nvGraphicFramePr>
        <p:xfrm>
          <a:off x="731520" y="15544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12648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보고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유형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시점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주요 내용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착수보고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계약</a:t>
                      </a:r>
                      <a:r>
                        <a:rPr sz="1200" dirty="0"/>
                        <a:t> 후 10일 </a:t>
                      </a:r>
                      <a:r>
                        <a:rPr sz="1200" dirty="0" err="1"/>
                        <a:t>이내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이력서, 보안대책, 용역비 산출내역, 추진일정·방향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중간보고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3~4개월차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과업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진척상황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중간결과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공유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향후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계획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협의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완료보고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계약만료 10일 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최종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보고회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개최</a:t>
                      </a:r>
                      <a:r>
                        <a:rPr sz="1200" dirty="0"/>
                        <a:t>, </a:t>
                      </a:r>
                      <a:r>
                        <a:rPr sz="1200" dirty="0" err="1"/>
                        <a:t>산출물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납품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월간보고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매월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월간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공정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진행상황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서면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보고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수시보고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필요시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행안부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요구</a:t>
                      </a:r>
                      <a:r>
                        <a:rPr sz="1200" dirty="0"/>
                        <a:t> 시 </a:t>
                      </a:r>
                      <a:r>
                        <a:rPr sz="1200" dirty="0" err="1"/>
                        <a:t>연구진행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상황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보고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t>FDS 자동화 특허 과업 적용 방안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82296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01600" rIns="152400" bIns="101600" rtlCol="0" anchor="ctr"/>
          <a:lstStyle/>
          <a:p>
            <a:pPr algn="ctr">
              <a:defRPr sz="1200" b="0">
                <a:solidFill>
                  <a:srgbClr val="1B2A4A"/>
                </a:solidFill>
                <a:latin typeface="맑은 고딕"/>
              </a:defRPr>
            </a:pPr>
            <a:r>
              <a:rPr dirty="0" err="1"/>
              <a:t>요양병원</a:t>
            </a:r>
            <a:r>
              <a:rPr dirty="0"/>
              <a:t> </a:t>
            </a:r>
            <a:r>
              <a:rPr dirty="0" err="1"/>
              <a:t>유형별</a:t>
            </a:r>
            <a:r>
              <a:rPr dirty="0"/>
              <a:t> 3차원 </a:t>
            </a:r>
            <a:r>
              <a:rPr dirty="0" err="1"/>
              <a:t>객체·개구부·측정</a:t>
            </a:r>
            <a:r>
              <a:rPr dirty="0"/>
              <a:t> </a:t>
            </a:r>
            <a:r>
              <a:rPr dirty="0" err="1"/>
              <a:t>지점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생성</a:t>
            </a:r>
            <a:r>
              <a:rPr dirty="0"/>
              <a:t> → FDS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텍스트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자동</a:t>
            </a:r>
            <a:r>
              <a:rPr dirty="0"/>
              <a:t> </a:t>
            </a:r>
            <a:r>
              <a:rPr dirty="0" err="1"/>
              <a:t>변환</a:t>
            </a:r>
            <a:r>
              <a:rPr dirty="0"/>
              <a:t/>
            </a:r>
            <a:br>
              <a:rPr dirty="0"/>
            </a:br>
            <a:r>
              <a:rPr dirty="0"/>
              <a:t>→ ASET </a:t>
            </a:r>
            <a:r>
              <a:rPr dirty="0" err="1"/>
              <a:t>산출의</a:t>
            </a:r>
            <a:r>
              <a:rPr dirty="0"/>
              <a:t> </a:t>
            </a:r>
            <a:r>
              <a:rPr dirty="0" err="1"/>
              <a:t>객관성·정밀도</a:t>
            </a:r>
            <a:r>
              <a:rPr dirty="0"/>
              <a:t> </a:t>
            </a:r>
            <a:r>
              <a:rPr dirty="0" err="1"/>
              <a:t>대폭</a:t>
            </a:r>
            <a:r>
              <a:rPr dirty="0"/>
              <a:t> </a:t>
            </a:r>
            <a:r>
              <a:rPr dirty="0" err="1"/>
              <a:t>향상</a:t>
            </a:r>
            <a:r>
              <a:rPr dirty="0"/>
              <a:t> + </a:t>
            </a: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소요시간</a:t>
            </a:r>
            <a:r>
              <a:rPr dirty="0"/>
              <a:t> </a:t>
            </a:r>
            <a:r>
              <a:rPr dirty="0" err="1"/>
              <a:t>획기적</a:t>
            </a:r>
            <a:r>
              <a:rPr dirty="0"/>
              <a:t> </a:t>
            </a:r>
            <a:r>
              <a:rPr dirty="0" err="1"/>
              <a:t>단축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0312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C4E8"/>
                </a:solidFill>
                <a:latin typeface="맑은 고딕"/>
              </a:defRPr>
            </a:pPr>
            <a:r>
              <a:t>요양(병)원 시설 유형별 대피체계 표준모델 개발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3120</Words>
  <Application>Microsoft Office PowerPoint</Application>
  <PresentationFormat>와이드스크린</PresentationFormat>
  <Paragraphs>553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taehyung kim</cp:lastModifiedBy>
  <cp:revision>7</cp:revision>
  <dcterms:created xsi:type="dcterms:W3CDTF">2013-01-27T09:14:16Z</dcterms:created>
  <dcterms:modified xsi:type="dcterms:W3CDTF">2026-05-24T01:13:07Z</dcterms:modified>
  <cp:category/>
</cp:coreProperties>
</file>